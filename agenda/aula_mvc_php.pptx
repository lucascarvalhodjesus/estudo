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5486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AULA PRÁTICA  ·  PROGRAMAÇÃO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Trebuchet MS"/>
              </a:rPr>
              <a:t>MVC com 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777BB4"/>
                </a:solidFill>
                <a:latin typeface="Calibri"/>
              </a:rPr>
              <a:t>Construindo o sistema Agenda passo a 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 dirty="0" err="1">
                <a:solidFill>
                  <a:srgbClr val="FFFFFF"/>
                </a:solidFill>
                <a:latin typeface="Calibri"/>
              </a:rPr>
              <a:t>Cinita</a:t>
            </a:r>
            <a:r>
              <a:rPr lang="pt-BR" sz="1200" b="0" i="0" dirty="0">
                <a:solidFill>
                  <a:srgbClr val="FFFFFF"/>
                </a:solidFill>
                <a:latin typeface="Calibri"/>
              </a:rPr>
              <a:t> Oliveira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Disciplina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Programação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O que vamos ver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Por que separar em camadas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Pastas e arquivos do projeto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Entidades e DAOs com PDO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Visão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HTML organizado e reutilizável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7033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7033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9319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43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Controle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9377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Roteador e orquestração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7033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7033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9319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77BB4"/>
                </a:solidFill>
                <a:latin typeface="Trebuchet M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B41"/>
                </a:solidFill>
                <a:latin typeface="Trebuchet MS"/>
              </a:rPr>
              <a:t>Sessão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9377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Login e área administrativa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O que é MVC?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6B7280"/>
                </a:solidFill>
                <a:latin typeface="Calibri"/>
              </a:rPr>
              <a:t>Padrão de organização de código em três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buChar char="•"/>
            </a:pPr>
            <a:r>
              <a:rPr sz="1800">
                <a:solidFill>
                  <a:srgbClr val="1F2D3D"/>
                </a:solidFill>
                <a:latin typeface="Calibri"/>
              </a:rPr>
              <a:t>M  —  Modelo (Model)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Dados e regras de negócio.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Conversa com o banco. Não sabe HTML.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800">
                <a:solidFill>
                  <a:srgbClr val="1F2D3D"/>
                </a:solidFill>
                <a:latin typeface="Calibri"/>
              </a:rPr>
              <a:t>V  —  Visão (View)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O que o usuário vê: HTML, CSS, formulários.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Não acessa o banco diretamente.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800">
                <a:solidFill>
                  <a:srgbClr val="1F2D3D"/>
                </a:solidFill>
                <a:latin typeface="Calibri"/>
              </a:rPr>
              <a:t>C  —  Controle (Controller)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Recebe a requisição e orquestra Modelo + Visão.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400">
                <a:solidFill>
                  <a:srgbClr val="6B7280"/>
                </a:solidFill>
                <a:latin typeface="Calibri"/>
              </a:rPr>
              <a:t>É o cérebro da operação.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840480" cy="123444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rebuchet MS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3246120"/>
            <a:ext cx="3840480" cy="1234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61188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rebuchet MS"/>
              </a:rPr>
              <a:t>VISÃO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4663440"/>
            <a:ext cx="3840480" cy="1234440"/>
          </a:xfrm>
          <a:prstGeom prst="rect">
            <a:avLst/>
          </a:prstGeom>
          <a:solidFill>
            <a:srgbClr val="1A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50292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rebuchet MS"/>
              </a:rPr>
              <a:t>CONTROLE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Por que separar em camadas?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B41"/>
                </a:solidFill>
                <a:latin typeface="Trebuchet MS"/>
              </a:rPr>
              <a:t>Organização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Cada arquivo tem UMA responsabilidade clara.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B41"/>
                </a:solidFill>
                <a:latin typeface="Trebuchet MS"/>
              </a:rPr>
              <a:t>Manutenção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Mudou o banco? Mexe só no Modelo. Mudou o visual? Só na Visão.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B41"/>
                </a:solidFill>
                <a:latin typeface="Trebuchet MS"/>
              </a:rPr>
              <a:t>Reaproveitamento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Um mesmo DAO pode servir vários controles.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43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B41"/>
                </a:solidFill>
                <a:latin typeface="Trebuchet MS"/>
              </a:rPr>
              <a:t>Trabalho em equipe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0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Frontend mexe na Visão; backend no Modelo. Sem conflito.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59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03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B41"/>
                </a:solidFill>
                <a:latin typeface="Trebuchet MS"/>
              </a:rPr>
              <a:t>Testabilidade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Cada camada pode ser testada isoladamente.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O sistema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Aplicação simples para gerenciar contatos, com área administrativa.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00" cy="64008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CRUD Contato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Cadastrar novo contato (com foto)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Listar todos os contatos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Exibir detalhes de um 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Alterar dados de um contato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Excluir um contato (com confirmação)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486400" cy="640080"/>
          </a:xfrm>
          <a:prstGeom prst="rect">
            <a:avLst/>
          </a:prstGeom>
          <a:solidFill>
            <a:srgbClr val="1A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CRUD Usuário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34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Login com login + senha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46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Senha guardada com hash (md5)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Sessão para reconhecer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Logout que destrói a sessão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80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•  Botões de admin só aparecem logado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Estrutura de pastas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772400" cy="53949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agenda/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├── index.php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         # ponto de entrada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├── contato.php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      # roteador de Contato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├── usuario.php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      # roteador de Usuário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├── modelo/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├── ConnectionFactory.php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# conexão única (PDO)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│   ├── contato/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│   ├── Contato.php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    # entidade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│   └── ContatoDAO.php</a:t>
            </a:r>
            <a:r>
              <a:rPr sz="1100" i="1">
                <a:solidFill>
                  <a:srgbClr val="6B7280"/>
                </a:solidFill>
                <a:latin typeface="Consolas"/>
              </a:rPr>
              <a:t>    # CRUD no banco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│   └── usuario/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    ├── Usuario.php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    └── UsuarioDAO.php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├── visao/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├── layout/  (topo.php, base.php)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├── contato/ (lista, exibe, form...)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└── usuario/ (formLogin)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├── controle/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├── contato/ (Listar, Cadastrar, ...)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   └── usuario/ (LoginUsuario)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│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└── assets/  (css, img, fonts, fotos)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2801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B41"/>
                </a:solidFill>
                <a:latin typeface="Trebuchet MS"/>
              </a:rPr>
              <a:t>Cada pasta = uma camada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828800"/>
            <a:ext cx="32918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777BB4"/>
                </a:solidFill>
                <a:latin typeface="Calibri"/>
              </a:rPr>
              <a:t>modelo/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Tudo que conversa com o banco.
</a:t>
            </a:r>
          </a:p>
          <a:p>
            <a:pPr algn="l"/>
            <a:r>
              <a:rPr sz="1600" b="1" i="0">
                <a:solidFill>
                  <a:srgbClr val="00D4AA"/>
                </a:solidFill>
                <a:latin typeface="Calibri"/>
              </a:rPr>
              <a:t>visao/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Tudo que vira HTML na tela.
</a:t>
            </a:r>
          </a:p>
          <a:p>
            <a:pPr algn="l"/>
            <a:r>
              <a:rPr sz="1600" b="1" i="0">
                <a:solidFill>
                  <a:srgbClr val="1A1B41"/>
                </a:solidFill>
                <a:latin typeface="Calibri"/>
              </a:rPr>
              <a:t>controle/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Cérebro: une os dois acima.
</a:t>
            </a:r>
            <a:r>
              <a:rPr sz="1200" b="0" i="1">
                <a:solidFill>
                  <a:srgbClr val="1F2D3D"/>
                </a:solidFill>
                <a:latin typeface="Calibri"/>
              </a:rPr>
              <a:t>Cada CRUD vira uma SUBPASTA dentro da camada.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Fluxo de uma requisição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Quando o aluno clica em "Listar Contatos":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1790700" cy="41148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contato.php?fun=listar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1032" y="30632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362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93620" y="2286000"/>
            <a:ext cx="1790700" cy="411480"/>
          </a:xfrm>
          <a:prstGeom prst="rect">
            <a:avLst/>
          </a:prstGeom>
          <a:solidFill>
            <a:srgbClr val="1A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362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ROTEADOR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06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decide qual controle chamar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8892" y="30632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148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1480" y="2286000"/>
            <a:ext cx="1790700" cy="41148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148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CONTROLE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292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ListarContato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0632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34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9340" y="2286000"/>
            <a:ext cx="1790700" cy="411480"/>
          </a:xfrm>
          <a:prstGeom prst="rect">
            <a:avLst/>
          </a:prstGeom>
          <a:solidFill>
            <a:srgbClr val="1A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934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8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ContatoDAO-&gt;listar()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4612" y="30632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720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77200" y="2286000"/>
            <a:ext cx="1790700" cy="41148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7720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VISÃO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lista.php gera o 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2472" y="30632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05060" y="2286000"/>
            <a:ext cx="17907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05060" y="2286000"/>
            <a:ext cx="17907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05060" y="2286000"/>
            <a:ext cx="17907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2880360"/>
            <a:ext cx="16078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D3D"/>
                </a:solidFill>
                <a:latin typeface="Consolas"/>
              </a:rPr>
              <a:t>envia para o navegador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A1B41"/>
                </a:solidFill>
                <a:latin typeface="Trebuchet MS"/>
              </a:rPr>
              <a:t>Resumo:  URL → Roteador → Controle → Modelo → Visão → 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peça só conhece a próxima — desacoplamento!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Modelo · Entidade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Classe que representa um conceito do mundo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buChar char="•"/>
            </a:pPr>
            <a:r>
              <a:rPr sz="1700">
                <a:solidFill>
                  <a:srgbClr val="1F2D3D"/>
                </a:solidFill>
                <a:latin typeface="Calibri"/>
              </a:rPr>
              <a:t>Atributos PRIVADOS (encapsulamento)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700">
                <a:solidFill>
                  <a:srgbClr val="1F2D3D"/>
                </a:solidFill>
                <a:latin typeface="Calibri"/>
              </a:rPr>
              <a:t>Apenas getters e setters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700">
                <a:solidFill>
                  <a:srgbClr val="1F2D3D"/>
                </a:solidFill>
                <a:latin typeface="Calibri"/>
              </a:rPr>
              <a:t>Nada de SQL, nada de HTML aqui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700">
                <a:solidFill>
                  <a:srgbClr val="1F2D3D"/>
                </a:solidFill>
                <a:latin typeface="Calibri"/>
              </a:rPr>
              <a:t>Cada objeto representa UM contato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920240"/>
            <a:ext cx="4937760" cy="429768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class </a:t>
            </a:r>
            <a:r>
              <a:rPr sz="1200">
                <a:solidFill>
                  <a:srgbClr val="E5E7EB"/>
                </a:solidFill>
                <a:latin typeface="Consolas"/>
              </a:rPr>
              <a:t>Contato {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</a:t>
            </a:r>
            <a:r>
              <a:rPr sz="1200">
                <a:solidFill>
                  <a:srgbClr val="E5E7EB"/>
                </a:solidFill>
                <a:latin typeface="Consolas"/>
              </a:rPr>
              <a:t>$id, $nome, $email;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</a:t>
            </a:r>
            <a:r>
              <a:rPr sz="1200">
                <a:solidFill>
                  <a:srgbClr val="E5E7EB"/>
                </a:solidFill>
                <a:latin typeface="Consolas"/>
              </a:rPr>
              <a:t>$telefone, $foto;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public function </a:t>
            </a:r>
            <a:r>
              <a:rPr sz="1200">
                <a:solidFill>
                  <a:srgbClr val="E5E7EB"/>
                </a:solidFill>
                <a:latin typeface="Consolas"/>
              </a:rPr>
              <a:t>getNome() {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    return $this</a:t>
            </a:r>
            <a:r>
              <a:rPr sz="1200">
                <a:solidFill>
                  <a:srgbClr val="E5E7EB"/>
                </a:solidFill>
                <a:latin typeface="Consolas"/>
              </a:rPr>
              <a:t>-&gt;nome;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public function </a:t>
            </a:r>
            <a:r>
              <a:rPr sz="1200">
                <a:solidFill>
                  <a:srgbClr val="E5E7EB"/>
                </a:solidFill>
                <a:latin typeface="Consolas"/>
              </a:rPr>
              <a:t>setNome($nome) {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 </a:t>
            </a:r>
            <a:r>
              <a:rPr sz="1200" b="1">
                <a:solidFill>
                  <a:srgbClr val="F972B2"/>
                </a:solidFill>
                <a:latin typeface="Consolas"/>
              </a:rPr>
              <a:t>$this</a:t>
            </a:r>
            <a:r>
              <a:rPr sz="1200">
                <a:solidFill>
                  <a:srgbClr val="E5E7EB"/>
                </a:solidFill>
                <a:latin typeface="Consolas"/>
              </a:rPr>
              <a:t>-&gt;nome = $nome;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</a:t>
            </a:r>
            <a:r>
              <a:rPr sz="1200" i="1">
                <a:solidFill>
                  <a:srgbClr val="6B7280"/>
                </a:solidFill>
                <a:latin typeface="Consolas"/>
              </a:rPr>
              <a:t>// ... demais get/set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Modelo · DAO  (Data Access Object)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Quem conversa com o banco. Implementa o CRUD de uma entidade.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707" y="201168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3707" y="2194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777BB4"/>
                </a:solidFill>
                <a:latin typeface="Trebuchet MS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707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A1B41"/>
                </a:solidFill>
                <a:latin typeface="Trebuchet MS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707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cadastrar()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4067" y="201168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4067" y="2194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A1B41"/>
                </a:solidFill>
                <a:latin typeface="Trebuchet MS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4067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A1B41"/>
                </a:solidFill>
                <a:latin typeface="Trebuchet MS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4067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listar() / exibir()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4427" y="201168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4427" y="2194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777BB4"/>
                </a:solidFill>
                <a:latin typeface="Trebuchet MS"/>
              </a:rP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4427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A1B41"/>
                </a:solidFill>
                <a:latin typeface="Trebuchet MS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alterar()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4787" y="201168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44787" y="21945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A1B41"/>
                </a:solidFill>
                <a:latin typeface="Trebuchet M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4787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A1B41"/>
                </a:solidFill>
                <a:latin typeface="Trebuchet MS"/>
              </a:rP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4787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excluir()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B41"/>
                </a:solidFill>
                <a:latin typeface="Calibri"/>
              </a:rPr>
              <a:t>Por que separar Entidade e DAO?  </a:t>
            </a:r>
          </a:p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Entidade só guarda DADOS. DAO sabe LER e GRAVAR. </a:t>
            </a:r>
            <a:r>
              <a:rPr sz="1500" b="0" i="1">
                <a:solidFill>
                  <a:srgbClr val="6B7280"/>
                </a:solidFill>
                <a:latin typeface="Calibri"/>
              </a:rPr>
              <a:t>Se trocarmos MySQL por PostgreSQL, mudamos só o DAO; a Entidade fica intacta.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ConnectionFactory  ·  Conexão única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Centraliza credenciais e reaproveita a mesma conexão (Singleton).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7315200" cy="44805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class </a:t>
            </a:r>
            <a:r>
              <a:rPr sz="1200">
                <a:solidFill>
                  <a:srgbClr val="E5E7EB"/>
                </a:solidFill>
                <a:latin typeface="Consolas"/>
              </a:rPr>
              <a:t>ConnectionFactory {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static </a:t>
            </a:r>
            <a:r>
              <a:rPr sz="1200">
                <a:solidFill>
                  <a:srgbClr val="E5E7EB"/>
                </a:solidFill>
                <a:latin typeface="Consolas"/>
              </a:rPr>
              <a:t>$host  = </a:t>
            </a:r>
            <a:r>
              <a:rPr sz="1200">
                <a:solidFill>
                  <a:srgbClr val="A5E5C1"/>
                </a:solidFill>
                <a:latin typeface="Consolas"/>
              </a:rPr>
              <a:t>'localhost'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static </a:t>
            </a:r>
            <a:r>
              <a:rPr sz="1200">
                <a:solidFill>
                  <a:srgbClr val="E5E7EB"/>
                </a:solidFill>
                <a:latin typeface="Consolas"/>
              </a:rPr>
              <a:t>$user  = </a:t>
            </a:r>
            <a:r>
              <a:rPr sz="1200">
                <a:solidFill>
                  <a:srgbClr val="A5E5C1"/>
                </a:solidFill>
                <a:latin typeface="Consolas"/>
              </a:rPr>
              <a:t>'root'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static </a:t>
            </a:r>
            <a:r>
              <a:rPr sz="1200">
                <a:solidFill>
                  <a:srgbClr val="E5E7EB"/>
                </a:solidFill>
                <a:latin typeface="Consolas"/>
              </a:rPr>
              <a:t>$senha = </a:t>
            </a:r>
            <a:r>
              <a:rPr sz="1200">
                <a:solidFill>
                  <a:srgbClr val="A5E5C1"/>
                </a:solidFill>
                <a:latin typeface="Consolas"/>
              </a:rPr>
              <a:t>'vertrigo'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static </a:t>
            </a:r>
            <a:r>
              <a:rPr sz="1200">
                <a:solidFill>
                  <a:srgbClr val="E5E7EB"/>
                </a:solidFill>
                <a:latin typeface="Consolas"/>
              </a:rPr>
              <a:t>$db    = </a:t>
            </a:r>
            <a:r>
              <a:rPr sz="1200">
                <a:solidFill>
                  <a:srgbClr val="A5E5C1"/>
                </a:solidFill>
                <a:latin typeface="Consolas"/>
              </a:rPr>
              <a:t>'agenda'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private static </a:t>
            </a:r>
            <a:r>
              <a:rPr sz="1200">
                <a:solidFill>
                  <a:srgbClr val="E5E7EB"/>
                </a:solidFill>
                <a:latin typeface="Consolas"/>
              </a:rPr>
              <a:t>$con   = </a:t>
            </a:r>
            <a:r>
              <a:rPr sz="1200" b="1">
                <a:solidFill>
                  <a:srgbClr val="F972B2"/>
                </a:solidFill>
                <a:latin typeface="Consolas"/>
              </a:rPr>
              <a:t>null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public static function </a:t>
            </a:r>
            <a:r>
              <a:rPr sz="1200">
                <a:solidFill>
                  <a:srgbClr val="E5E7EB"/>
                </a:solidFill>
                <a:latin typeface="Consolas"/>
              </a:rPr>
              <a:t>getConnection() {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    if </a:t>
            </a:r>
            <a:r>
              <a:rPr sz="1200">
                <a:solidFill>
                  <a:srgbClr val="E5E7EB"/>
                </a:solidFill>
                <a:latin typeface="Consolas"/>
              </a:rPr>
              <a:t>(self::$con === </a:t>
            </a:r>
            <a:r>
              <a:rPr sz="1200" b="1">
                <a:solidFill>
                  <a:srgbClr val="F972B2"/>
                </a:solidFill>
                <a:latin typeface="Consolas"/>
              </a:rPr>
              <a:t>null</a:t>
            </a:r>
            <a:r>
              <a:rPr sz="1200">
                <a:solidFill>
                  <a:srgbClr val="E5E7EB"/>
                </a:solidFill>
                <a:latin typeface="Consolas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     self::$con = </a:t>
            </a:r>
            <a:r>
              <a:rPr sz="1200" b="1">
                <a:solidFill>
                  <a:srgbClr val="F972B2"/>
                </a:solidFill>
                <a:latin typeface="Consolas"/>
              </a:rPr>
              <a:t>new </a:t>
            </a:r>
            <a:r>
              <a:rPr sz="1200">
                <a:solidFill>
                  <a:srgbClr val="E5E7EB"/>
                </a:solidFill>
                <a:latin typeface="Consolas"/>
              </a:rPr>
              <a:t>PDO(...);</a:t>
            </a:r>
            <a:r>
              <a:rPr sz="1200" i="1">
                <a:solidFill>
                  <a:srgbClr val="6B7280"/>
                </a:solidFill>
                <a:latin typeface="Consolas"/>
              </a:rPr>
              <a:t>   // só na 1ª vez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972B2"/>
                </a:solidFill>
                <a:latin typeface="Consolas"/>
              </a:rPr>
              <a:t>        return </a:t>
            </a:r>
            <a:r>
              <a:rPr sz="1200">
                <a:solidFill>
                  <a:srgbClr val="E5E7EB"/>
                </a:solidFill>
                <a:latin typeface="Consolas"/>
              </a:rPr>
              <a:t>self::$con;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B41"/>
                </a:solidFill>
                <a:latin typeface="Trebuchet MS"/>
              </a:rPr>
              <a:t>Por que assim?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46888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buChar char="•"/>
            </a:pPr>
            <a:r>
              <a:rPr sz="1400">
                <a:solidFill>
                  <a:srgbClr val="1F2D3D"/>
                </a:solidFill>
                <a:latin typeface="Calibri"/>
              </a:rPr>
              <a:t>Senha em UM lugar só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400">
                <a:solidFill>
                  <a:srgbClr val="1F2D3D"/>
                </a:solidFill>
                <a:latin typeface="Calibri"/>
              </a:rPr>
              <a:t>Reusa a mesma conexão na requisição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400">
                <a:solidFill>
                  <a:srgbClr val="1F2D3D"/>
                </a:solidFill>
                <a:latin typeface="Calibri"/>
              </a:rPr>
              <a:t>Trocar de banco = mudar só aqui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400">
                <a:solidFill>
                  <a:srgbClr val="1F2D3D"/>
                </a:solidFill>
                <a:latin typeface="Calibri"/>
              </a:rPr>
              <a:t>PDO + ATTR_ERRMODE = exceções claras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Prepared Statements  ·  Adeus, 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9324A"/>
                </a:solidFill>
                <a:latin typeface="Trebuchet MS"/>
              </a:rPr>
              <a:t>ERRADO  ·  concatenando 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237744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$sql = </a:t>
            </a:r>
            <a:r>
              <a:rPr sz="1200">
                <a:solidFill>
                  <a:srgbClr val="A5E5C1"/>
                </a:solidFill>
                <a:latin typeface="Consolas"/>
              </a:rPr>
              <a:t>"SELECT * FROM usuario "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. </a:t>
            </a:r>
            <a:r>
              <a:rPr sz="1200">
                <a:solidFill>
                  <a:srgbClr val="A5E5C1"/>
                </a:solidFill>
                <a:latin typeface="Consolas"/>
              </a:rPr>
              <a:t>"WHERE login = '$login'"</a:t>
            </a:r>
            <a:r>
              <a:rPr sz="12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i="1">
                <a:solidFill>
                  <a:srgbClr val="6B7280"/>
                </a:solidFill>
                <a:latin typeface="Consolas"/>
              </a:rPr>
              <a:t>// usuário digita: ' OR '1'='1</a:t>
            </a:r>
          </a:p>
          <a:p>
            <a:pPr algn="l">
              <a:lnSpc>
                <a:spcPct val="115000"/>
              </a:lnSpc>
            </a:pPr>
            <a:r>
              <a:rPr sz="1200" i="1">
                <a:solidFill>
                  <a:srgbClr val="6B7280"/>
                </a:solidFill>
                <a:latin typeface="Consolas"/>
              </a:rPr>
              <a:t>// vira sempre VERDADEIRO!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280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Trebuchet MS"/>
              </a:rPr>
              <a:t>CERTO  ·  prepared + bindValue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486400" cy="237744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$stmt = </a:t>
            </a:r>
            <a:r>
              <a:rPr sz="1200" b="1">
                <a:solidFill>
                  <a:srgbClr val="F972B2"/>
                </a:solidFill>
                <a:latin typeface="Consolas"/>
              </a:rPr>
              <a:t>$this</a:t>
            </a:r>
            <a:r>
              <a:rPr sz="1200">
                <a:solidFill>
                  <a:srgbClr val="E5E7EB"/>
                </a:solidFill>
                <a:latin typeface="Consolas"/>
              </a:rPr>
              <a:t>-&gt;con-&gt;prepare(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A5E5C1"/>
                </a:solidFill>
                <a:latin typeface="Consolas"/>
              </a:rPr>
              <a:t>   "SELECT * FROM usuario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A5E5C1"/>
                </a:solidFill>
                <a:latin typeface="Consolas"/>
              </a:rPr>
              <a:t>    WHERE login = :login"</a:t>
            </a:r>
            <a:r>
              <a:rPr sz="1200">
                <a:solidFill>
                  <a:srgbClr val="E5E7EB"/>
                </a:solidFill>
                <a:latin typeface="Consolas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$stmt-&gt;bindValue(</a:t>
            </a:r>
            <a:r>
              <a:rPr sz="1200">
                <a:solidFill>
                  <a:srgbClr val="A5E5C1"/>
                </a:solidFill>
                <a:latin typeface="Consolas"/>
              </a:rPr>
              <a:t>":login"</a:t>
            </a:r>
            <a:r>
              <a:rPr sz="1200">
                <a:solidFill>
                  <a:srgbClr val="E5E7EB"/>
                </a:solidFill>
                <a:latin typeface="Consolas"/>
              </a:rPr>
              <a:t>, $login);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$stmt-&gt;execute();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11338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91440" cy="1737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B41"/>
                </a:solidFill>
                <a:latin typeface="Trebuchet MS"/>
              </a:rPr>
              <a:t>Como funciona o prepared statement?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O SQL com âncoras (:login) vai PRIMEIRO para o banco.
Depois enviamos os VALORES separados — eles nunca são interpretados como SQL.
Mesmo que o usuário digite ; DROP TABLE usuario; vira só uma string inofensiva.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Visão  ·  Só HTML, nada de banco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A visão recebe variáveis prontas do controle e gera o HTML.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6949440" cy="420624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&lt;table&gt;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&lt;tr&gt;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&lt;th&gt;Nome&lt;/th&gt;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&lt;th&gt;Email&lt;/th&gt;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&lt;/tr&gt;</a:t>
            </a:r>
          </a:p>
          <a:p>
            <a:pPr algn="l">
              <a:lnSpc>
                <a:spcPct val="115000"/>
              </a:lnSpc>
            </a:pPr>
            <a:r>
              <a:rPr sz="12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</a:t>
            </a:r>
            <a:r>
              <a:rPr sz="1200" b="1">
                <a:solidFill>
                  <a:srgbClr val="F972B2"/>
                </a:solidFill>
                <a:latin typeface="Consolas"/>
              </a:rPr>
              <a:t>&lt;?php foreach </a:t>
            </a:r>
            <a:r>
              <a:rPr sz="1200">
                <a:solidFill>
                  <a:srgbClr val="E5E7EB"/>
                </a:solidFill>
                <a:latin typeface="Consolas"/>
              </a:rPr>
              <a:t>($lista as $c): </a:t>
            </a:r>
            <a:r>
              <a:rPr sz="1200" b="1">
                <a:solidFill>
                  <a:srgbClr val="F972B2"/>
                </a:solidFill>
                <a:latin typeface="Consolas"/>
              </a:rPr>
              <a:t>?&gt;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&lt;tr&gt;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  &lt;td&gt;</a:t>
            </a:r>
            <a:r>
              <a:rPr sz="1200" b="1">
                <a:solidFill>
                  <a:srgbClr val="F972B2"/>
                </a:solidFill>
                <a:latin typeface="Consolas"/>
              </a:rPr>
              <a:t>&lt;?= $c-&gt;getNome() ?&gt;</a:t>
            </a:r>
            <a:r>
              <a:rPr sz="1200">
                <a:solidFill>
                  <a:srgbClr val="E5E7EB"/>
                </a:solidFill>
                <a:latin typeface="Consolas"/>
              </a:rPr>
              <a:t>&lt;/td&gt;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  &lt;td&gt;</a:t>
            </a:r>
            <a:r>
              <a:rPr sz="1200" b="1">
                <a:solidFill>
                  <a:srgbClr val="F972B2"/>
                </a:solidFill>
                <a:latin typeface="Consolas"/>
              </a:rPr>
              <a:t>&lt;?= $c-&gt;getEmail() ?&gt;</a:t>
            </a:r>
            <a:r>
              <a:rPr sz="1200">
                <a:solidFill>
                  <a:srgbClr val="E5E7EB"/>
                </a:solidFill>
                <a:latin typeface="Consolas"/>
              </a:rPr>
              <a:t>&lt;/td&gt;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   &lt;/tr&gt;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  </a:t>
            </a:r>
            <a:r>
              <a:rPr sz="1200" b="1">
                <a:solidFill>
                  <a:srgbClr val="F972B2"/>
                </a:solidFill>
                <a:latin typeface="Consolas"/>
              </a:rPr>
              <a:t>&lt;?php </a:t>
            </a:r>
            <a:r>
              <a:rPr sz="1200">
                <a:solidFill>
                  <a:srgbClr val="E5E7EB"/>
                </a:solidFill>
                <a:latin typeface="Consolas"/>
              </a:rPr>
              <a:t>endforeach; </a:t>
            </a:r>
            <a:r>
              <a:rPr sz="1200" b="1">
                <a:solidFill>
                  <a:srgbClr val="F972B2"/>
                </a:solidFill>
                <a:latin typeface="Consolas"/>
              </a:rPr>
              <a:t>?&gt;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&lt;/table&gt;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920240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1920240"/>
            <a:ext cx="41148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DEVE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6032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•  Imprimir variáveis prontas</a:t>
            </a:r>
          </a:p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•  Usar htmlspecialchars (XSS)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114800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solidFill>
            <a:srgbClr val="D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rebuchet MS"/>
              </a:rPr>
              <a:t>NÃO DEVE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5488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•  Abrir conexão com banco</a:t>
            </a:r>
          </a:p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•  Fazer regras de negócio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Controle  ·  O cérebro da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Recebe a requisição do roteador, chama o DAO e escolhe a visão.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77BB4"/>
                </a:solidFill>
                <a:latin typeface="Trebuchet MS"/>
              </a:rPr>
              <a:t>ROTEADOR  ·  contato.php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5852160" cy="246888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$fun = $_GET[</a:t>
            </a:r>
            <a:r>
              <a:rPr sz="1100">
                <a:solidFill>
                  <a:srgbClr val="A5E5C1"/>
                </a:solidFill>
                <a:latin typeface="Consolas"/>
              </a:rPr>
              <a:t>"fun"</a:t>
            </a:r>
            <a:r>
              <a:rPr sz="1100">
                <a:solidFill>
                  <a:srgbClr val="E5E7EB"/>
                </a:solidFill>
                <a:latin typeface="Consolas"/>
              </a:rPr>
              <a:t>] ?? </a:t>
            </a:r>
            <a:r>
              <a:rPr sz="1100">
                <a:solidFill>
                  <a:srgbClr val="A5E5C1"/>
                </a:solidFill>
                <a:latin typeface="Consolas"/>
              </a:rPr>
              <a:t>"listar"</a:t>
            </a:r>
            <a:r>
              <a:rPr sz="11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switch </a:t>
            </a:r>
            <a:r>
              <a:rPr sz="1100">
                <a:solidFill>
                  <a:srgbClr val="E5E7EB"/>
                </a:solidFill>
                <a:latin typeface="Consolas"/>
              </a:rPr>
              <a:t>($fun) {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case </a:t>
            </a:r>
            <a:r>
              <a:rPr sz="1100">
                <a:solidFill>
                  <a:srgbClr val="A5E5C1"/>
                </a:solidFill>
                <a:latin typeface="Consolas"/>
              </a:rPr>
              <a:t>"cadastrar"</a:t>
            </a:r>
            <a:r>
              <a:rPr sz="1100">
                <a:solidFill>
                  <a:srgbClr val="E5E7EB"/>
                </a:solidFill>
                <a:latin typeface="Consolas"/>
              </a:rPr>
              <a:t>: </a:t>
            </a:r>
            <a:r>
              <a:rPr sz="1100" b="1">
                <a:solidFill>
                  <a:srgbClr val="F972B2"/>
                </a:solidFill>
                <a:latin typeface="Consolas"/>
              </a:rPr>
              <a:t>new </a:t>
            </a:r>
            <a:r>
              <a:rPr sz="1100">
                <a:solidFill>
                  <a:srgbClr val="E5E7EB"/>
                </a:solidFill>
                <a:latin typeface="Consolas"/>
              </a:rPr>
              <a:t>CadastrarContato();</a:t>
            </a:r>
            <a:r>
              <a:rPr sz="1100" b="1">
                <a:solidFill>
                  <a:srgbClr val="F972B2"/>
                </a:solidFill>
                <a:latin typeface="Consolas"/>
              </a:rPr>
              <a:t> break;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case </a:t>
            </a:r>
            <a:r>
              <a:rPr sz="1100">
                <a:solidFill>
                  <a:srgbClr val="A5E5C1"/>
                </a:solidFill>
                <a:latin typeface="Consolas"/>
              </a:rPr>
              <a:t>"alterar"</a:t>
            </a:r>
            <a:r>
              <a:rPr sz="1100">
                <a:solidFill>
                  <a:srgbClr val="E5E7EB"/>
                </a:solidFill>
                <a:latin typeface="Consolas"/>
              </a:rPr>
              <a:t>: </a:t>
            </a:r>
            <a:r>
              <a:rPr sz="1100" b="1">
                <a:solidFill>
                  <a:srgbClr val="F972B2"/>
                </a:solidFill>
                <a:latin typeface="Consolas"/>
              </a:rPr>
              <a:t>new </a:t>
            </a:r>
            <a:r>
              <a:rPr sz="1100">
                <a:solidFill>
                  <a:srgbClr val="E5E7EB"/>
                </a:solidFill>
                <a:latin typeface="Consolas"/>
              </a:rPr>
              <a:t>AlterarContato();</a:t>
            </a:r>
            <a:r>
              <a:rPr sz="1100" b="1">
                <a:solidFill>
                  <a:srgbClr val="F972B2"/>
                </a:solidFill>
                <a:latin typeface="Consolas"/>
              </a:rPr>
              <a:t> break;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case </a:t>
            </a:r>
            <a:r>
              <a:rPr sz="1100">
                <a:solidFill>
                  <a:srgbClr val="A5E5C1"/>
                </a:solidFill>
                <a:latin typeface="Consolas"/>
              </a:rPr>
              <a:t>"excluir"</a:t>
            </a:r>
            <a:r>
              <a:rPr sz="1100">
                <a:solidFill>
                  <a:srgbClr val="E5E7EB"/>
                </a:solidFill>
                <a:latin typeface="Consolas"/>
              </a:rPr>
              <a:t>: </a:t>
            </a:r>
            <a:r>
              <a:rPr sz="1100" b="1">
                <a:solidFill>
                  <a:srgbClr val="F972B2"/>
                </a:solidFill>
                <a:latin typeface="Consolas"/>
              </a:rPr>
              <a:t>new </a:t>
            </a:r>
            <a:r>
              <a:rPr sz="1100">
                <a:solidFill>
                  <a:srgbClr val="E5E7EB"/>
                </a:solidFill>
                <a:latin typeface="Consolas"/>
              </a:rPr>
              <a:t>ExcluirContato();</a:t>
            </a:r>
            <a:r>
              <a:rPr sz="1100" b="1">
                <a:solidFill>
                  <a:srgbClr val="F972B2"/>
                </a:solidFill>
                <a:latin typeface="Consolas"/>
              </a:rPr>
              <a:t> break;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default</a:t>
            </a:r>
            <a:r>
              <a:rPr sz="1100">
                <a:solidFill>
                  <a:srgbClr val="E5E7EB"/>
                </a:solidFill>
                <a:latin typeface="Consolas"/>
              </a:rPr>
              <a:t>:         </a:t>
            </a:r>
            <a:r>
              <a:rPr sz="1100" b="1">
                <a:solidFill>
                  <a:srgbClr val="F972B2"/>
                </a:solidFill>
                <a:latin typeface="Consolas"/>
              </a:rPr>
              <a:t>new </a:t>
            </a:r>
            <a:r>
              <a:rPr sz="1100">
                <a:solidFill>
                  <a:srgbClr val="E5E7EB"/>
                </a:solidFill>
                <a:latin typeface="Consolas"/>
              </a:rPr>
              <a:t>ListarContato();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B41"/>
                </a:solidFill>
                <a:latin typeface="Trebuchet MS"/>
              </a:rPr>
              <a:t>CONTROLE  ·  ListarContato.php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240280"/>
            <a:ext cx="5120640" cy="246888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class </a:t>
            </a:r>
            <a:r>
              <a:rPr sz="1100">
                <a:solidFill>
                  <a:srgbClr val="E5E7EB"/>
                </a:solidFill>
                <a:latin typeface="Consolas"/>
              </a:rPr>
              <a:t>ListarContato {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public function </a:t>
            </a:r>
            <a:r>
              <a:rPr sz="1100">
                <a:solidFill>
                  <a:srgbClr val="E5E7EB"/>
                </a:solidFill>
                <a:latin typeface="Consolas"/>
              </a:rPr>
              <a:t>__construct() {</a:t>
            </a:r>
          </a:p>
          <a:p>
            <a:pPr algn="l"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    </a:t>
            </a:r>
            <a:r>
              <a:rPr sz="1100" i="1">
                <a:solidFill>
                  <a:srgbClr val="6B7280"/>
                </a:solidFill>
                <a:latin typeface="Consolas"/>
              </a:rPr>
              <a:t>// 1. Modelo: pega os dados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    $dao   = </a:t>
            </a:r>
            <a:r>
              <a:rPr sz="1100" b="1">
                <a:solidFill>
                  <a:srgbClr val="F972B2"/>
                </a:solidFill>
                <a:latin typeface="Consolas"/>
              </a:rPr>
              <a:t>new </a:t>
            </a:r>
            <a:r>
              <a:rPr sz="1100">
                <a:solidFill>
                  <a:srgbClr val="E5E7EB"/>
                </a:solidFill>
                <a:latin typeface="Consolas"/>
              </a:rPr>
              <a:t>ContatoDAO();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    $lista = $dao-&gt;listar();</a:t>
            </a:r>
          </a:p>
          <a:p>
            <a:pPr algn="l"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    </a:t>
            </a:r>
            <a:r>
              <a:rPr sz="1100" i="1">
                <a:solidFill>
                  <a:srgbClr val="6B7280"/>
                </a:solidFill>
                <a:latin typeface="Consolas"/>
              </a:rPr>
              <a:t>// 2. Visão: mostra na tela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72B2"/>
                </a:solidFill>
                <a:latin typeface="Consolas"/>
              </a:rPr>
              <a:t>    require </a:t>
            </a:r>
            <a:r>
              <a:rPr sz="1100">
                <a:solidFill>
                  <a:srgbClr val="A5E5C1"/>
                </a:solidFill>
                <a:latin typeface="Consolas"/>
              </a:rPr>
              <a:t>"visao/contato/lista.php"</a:t>
            </a:r>
            <a:r>
              <a:rPr sz="1100">
                <a:solidFill>
                  <a:srgbClr val="E5E7EB"/>
                </a:solidFill>
                <a:latin typeface="Consolas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338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B41"/>
                </a:solidFill>
                <a:latin typeface="Calibri"/>
              </a:rPr>
              <a:t>Note como o controle é PEQUENO e CLARO.
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Toda a complexidade do SQL fica no DAO. </a:t>
            </a:r>
          </a:p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Toda a complexidade do HTML fica na visão.
</a:t>
            </a:r>
            <a:r>
              <a:rPr sz="1400" b="0" i="1">
                <a:solidFill>
                  <a:srgbClr val="6B7280"/>
                </a:solidFill>
                <a:latin typeface="Calibri"/>
              </a:rPr>
              <a:t>O controle só ORQUESTRA — recebe, chama, escolhe.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Sessão  ·  Lembrando quem está logado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$_SESSION é a memória do servidor entre requisições.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6687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6687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707" y="27889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867" y="29260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Trebuchet MS"/>
              </a:rPr>
              <a:t>Form de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587" y="35204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Usuário envia login e 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747" y="3474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777BB4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2767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9787" y="27889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6947" y="29260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Trebuchet MS"/>
              </a:rPr>
              <a:t>UsuarioDAO-&gt;logar()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667" y="35204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Verifica no banco com PDO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5827" y="3474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777BB4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8847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5867" y="27889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3027" y="29260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Trebuchet MS"/>
              </a:rPr>
              <a:t>$_SESSION['usuario']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5204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Guarda objeto Usuario serializado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1907" y="3474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777BB4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4927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64927" y="19659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1947" y="27889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19107" y="29260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1B41"/>
                </a:solidFill>
                <a:latin typeface="Trebuchet MS"/>
              </a:rPr>
              <a:t>Lista de contatos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4827" y="35204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Mostra botões de admin (alterar, excluir)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1338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B41"/>
                </a:solidFill>
                <a:latin typeface="Calibri"/>
              </a:rPr>
              <a:t>Por que serialize/unserialize?
</a:t>
            </a:r>
            <a:r>
              <a:rPr sz="1400" b="0" i="0">
                <a:solidFill>
                  <a:srgbClr val="1F2D3D"/>
                </a:solidFill>
                <a:latin typeface="Calibri"/>
              </a:rPr>
              <a:t>$_SESSION só guarda STRINGS e tipos simples. </a:t>
            </a:r>
          </a:p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serialize() converte o objeto Usuario em string para guardar; </a:t>
            </a:r>
            <a:r>
              <a:rPr sz="1400" b="0" i="1">
                <a:solidFill>
                  <a:srgbClr val="6B7280"/>
                </a:solidFill>
                <a:latin typeface="Calibri"/>
              </a:rPr>
              <a:t>unserialize() o reconstrói depois — desde que a classe Usuario já esteja CARREGADA.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Caso real  ·  O bug do unserialize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6B7280"/>
                </a:solidFill>
                <a:latin typeface="Calibri"/>
              </a:rPr>
              <a:t>Um erro fatal acontecia logo após o login. Vamos investigar.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155680" cy="1463040"/>
          </a:xfrm>
          <a:prstGeom prst="rect">
            <a:avLst/>
          </a:prstGeom>
          <a:solidFill>
            <a:srgbClr val="2D1016"/>
          </a:solidFill>
          <a:ln w="12700">
            <a:solidFill>
              <a:srgbClr val="D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20000" rIns="180000" bIns="120000" rtlCol="0" anchor="ctr"/>
          <a:lstStyle/>
          <a:p>
            <a:pPr algn="l"/>
            <a:r>
              <a:rPr sz="1400" b="1">
                <a:solidFill>
                  <a:srgbClr val="FF6B7A"/>
                </a:solidFill>
                <a:latin typeface="Consolas"/>
              </a:rPr>
              <a:t>Fatal error: Uncaught Error
</a:t>
            </a:r>
          </a:p>
          <a:p>
            <a:r>
              <a:rPr sz="1300">
                <a:solidFill>
                  <a:srgbClr val="F7C9CF"/>
                </a:solidFill>
                <a:latin typeface="Consolas"/>
              </a:rPr>
              <a:t>The script tried to call a method on an incomplete object.
Please ensure that the class definition "Usuario" was loaded
_before_ unserialize() gets called…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365760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777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2287" y="3657600"/>
            <a:ext cx="3657600" cy="50292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36576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Sintoma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443484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Erro fatal ao carregar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a lista de contatos.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365760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67047" y="3657600"/>
            <a:ext cx="3657600" cy="502920"/>
          </a:xfrm>
          <a:prstGeom prst="rect">
            <a:avLst/>
          </a:prstGeom>
          <a:solidFill>
            <a:srgbClr val="1A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7047" y="36576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Causa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443484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unserialize() achou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$_SESSION['usuario'],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mas a classe Usuario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ainda não estava carregada.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807" y="365760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1807" y="3657600"/>
            <a:ext cx="365760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1807" y="36576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Correção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443484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Carregar Usuario.php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logo no topo de cada</a:t>
            </a:r>
          </a:p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roteador.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Lição: classes precisam estar definidas ANTES do unserialize.  Em projetos maiores: autoloader (spl_autoload_register).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4048"/>
            <a:ext cx="64008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B41"/>
                </a:solidFill>
                <a:latin typeface="Trebuchet MS"/>
              </a:rPr>
              <a:t>Boas práticas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B41"/>
                </a:solidFill>
                <a:latin typeface="Trebuchet MS"/>
              </a:rPr>
              <a:t>Já fazemos no projeto: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buChar char="•"/>
            </a:pPr>
            <a:r>
              <a:rPr sz="1500" dirty="0">
                <a:solidFill>
                  <a:srgbClr val="1F2D3D"/>
                </a:solidFill>
                <a:latin typeface="Calibri"/>
              </a:rPr>
              <a:t>__DIR__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nos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require_once</a:t>
            </a:r>
            <a:endParaRPr sz="1500" dirty="0">
              <a:solidFill>
                <a:srgbClr val="1F2D3D"/>
              </a:solidFill>
              <a:latin typeface="Calibri"/>
            </a:endParaRP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 dirty="0" err="1">
                <a:solidFill>
                  <a:srgbClr val="6B7280"/>
                </a:solidFill>
                <a:latin typeface="Calibri"/>
              </a:rPr>
              <a:t>caminhos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absolutos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a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partir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arquivo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atual</a:t>
            </a:r>
            <a:endParaRPr sz="1200" dirty="0">
              <a:solidFill>
                <a:srgbClr val="6B7280"/>
              </a:solidFill>
              <a:latin typeface="Calibri"/>
            </a:endParaRP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 dirty="0">
                <a:solidFill>
                  <a:srgbClr val="1F2D3D"/>
                </a:solidFill>
                <a:latin typeface="Calibri"/>
              </a:rPr>
              <a:t>Prepared statements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 dirty="0">
                <a:solidFill>
                  <a:srgbClr val="6B7280"/>
                </a:solidFill>
                <a:latin typeface="Calibri"/>
              </a:rPr>
              <a:t>protege contra SQL Injection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 dirty="0" err="1">
                <a:solidFill>
                  <a:srgbClr val="1F2D3D"/>
                </a:solidFill>
                <a:latin typeface="Calibri"/>
              </a:rPr>
              <a:t>htmlspecialchars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na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visão</a:t>
            </a:r>
            <a:endParaRPr sz="1500" dirty="0">
              <a:solidFill>
                <a:srgbClr val="1F2D3D"/>
              </a:solidFill>
              <a:latin typeface="Calibri"/>
            </a:endParaRP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 dirty="0">
                <a:solidFill>
                  <a:srgbClr val="6B7280"/>
                </a:solidFill>
                <a:latin typeface="Calibri"/>
              </a:rPr>
              <a:t>protege contra XSS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 dirty="0">
                <a:solidFill>
                  <a:srgbClr val="1F2D3D"/>
                </a:solidFill>
                <a:latin typeface="Calibri"/>
              </a:rPr>
              <a:t>Singleton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na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conexão</a:t>
            </a:r>
            <a:endParaRPr sz="1500" dirty="0">
              <a:solidFill>
                <a:srgbClr val="1F2D3D"/>
              </a:solidFill>
              <a:latin typeface="Calibri"/>
            </a:endParaRP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 dirty="0" err="1">
                <a:solidFill>
                  <a:srgbClr val="6B7280"/>
                </a:solidFill>
                <a:latin typeface="Calibri"/>
              </a:rPr>
              <a:t>uma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conexão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200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requisição</a:t>
            </a:r>
            <a:endParaRPr sz="1200" dirty="0">
              <a:solidFill>
                <a:srgbClr val="6B7280"/>
              </a:solidFill>
              <a:latin typeface="Calibri"/>
            </a:endParaRP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 dirty="0" err="1">
                <a:solidFill>
                  <a:srgbClr val="1F2D3D"/>
                </a:solidFill>
                <a:latin typeface="Calibri"/>
              </a:rPr>
              <a:t>Subpastas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por</a:t>
            </a:r>
            <a:r>
              <a:rPr sz="1500" dirty="0">
                <a:solidFill>
                  <a:srgbClr val="1F2D3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D3D"/>
                </a:solidFill>
                <a:latin typeface="Calibri"/>
              </a:rPr>
              <a:t>entidade</a:t>
            </a:r>
            <a:endParaRPr sz="1500" dirty="0">
              <a:solidFill>
                <a:srgbClr val="1F2D3D"/>
              </a:solidFill>
              <a:latin typeface="Calibri"/>
            </a:endParaRP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 dirty="0" err="1">
                <a:solidFill>
                  <a:srgbClr val="6B7280"/>
                </a:solidFill>
                <a:latin typeface="Calibri"/>
              </a:rPr>
              <a:t>modelo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contato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visao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6B7280"/>
                </a:solidFill>
                <a:latin typeface="Calibri"/>
              </a:rPr>
              <a:t>contato</a:t>
            </a:r>
            <a:r>
              <a:rPr sz="1200" dirty="0">
                <a:solidFill>
                  <a:srgbClr val="6B7280"/>
                </a:solidFill>
                <a:latin typeface="Calibri"/>
              </a:rPr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77BB4"/>
                </a:solidFill>
                <a:latin typeface="Trebuchet MS"/>
              </a:rPr>
              <a:t>Para evoluir o projeto: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Autoloader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spl_autoload_register ou Composer PSR-4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password_hash / password_verify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em vez de md5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Validação de formulários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servidor + cliente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Namespaces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organizar com use App\Modelo\...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Templates de Visão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Twig ou Blade</a:t>
            </a:r>
          </a:p>
          <a:p>
            <a:pPr marL="285750" indent="-285750">
              <a:lnSpc>
                <a:spcPct val="125000"/>
              </a:lnSpc>
              <a:buChar char="•"/>
            </a:pPr>
            <a:r>
              <a:rPr sz="1500">
                <a:solidFill>
                  <a:srgbClr val="1F2D3D"/>
                </a:solidFill>
                <a:latin typeface="Calibri"/>
              </a:rPr>
              <a:t>Framework completo</a:t>
            </a:r>
          </a:p>
          <a:p>
            <a:pPr marL="628650" lvl="1" indent="-228600">
              <a:lnSpc>
                <a:spcPct val="125000"/>
              </a:lnSpc>
              <a:buChar char="–"/>
            </a:pPr>
            <a:r>
              <a:rPr sz="1200">
                <a:solidFill>
                  <a:srgbClr val="6B7280"/>
                </a:solidFill>
                <a:latin typeface="Calibri"/>
              </a:rPr>
              <a:t>Laravel quando dominar isso!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7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Trebuchet MS"/>
              </a:rPr>
              <a:t>Dúvidas?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73152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777BB4"/>
                </a:solidFill>
                <a:latin typeface="Calibri"/>
              </a:rPr>
              <a:t>Vamos abrir o XAMPP e ver o sistema rodando!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Próxima aula: autoloader e password_hash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777BB4"/>
                </a:solidFill>
                <a:latin typeface="Calibri"/>
              </a:rPr>
              <a:t>github.com/seu-usuario/agenda  · 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1674</Words>
  <Application>Microsoft Office PowerPoint</Application>
  <PresentationFormat>Widescreen</PresentationFormat>
  <Paragraphs>304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Cintia Oliveira</cp:lastModifiedBy>
  <cp:revision>2</cp:revision>
  <dcterms:created xsi:type="dcterms:W3CDTF">2013-01-27T09:14:16Z</dcterms:created>
  <dcterms:modified xsi:type="dcterms:W3CDTF">2026-05-02T19:42:19Z</dcterms:modified>
  <cp:category/>
</cp:coreProperties>
</file>